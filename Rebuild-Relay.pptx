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 snapToObjects="1">
      <p:cViewPr varScale="1">
        <p:scale>
          <a:sx n="102" d="100"/>
          <a:sy n="102" d="100"/>
        </p:scale>
        <p:origin x="8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-914400"/>
            <a:ext cx="4023360" cy="4023360"/>
          </a:xfrm>
          <a:prstGeom prst="ellipse">
            <a:avLst/>
          </a:prstGeom>
          <a:gradFill rotWithShape="1">
            <a:gsLst>
              <a:gs pos="0">
                <a:srgbClr val="FF6B7A"/>
              </a:gs>
              <a:gs pos="100000">
                <a:srgbClr val="7F73FF"/>
              </a:gs>
            </a:gsLst>
            <a:lin ang="180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2743200"/>
            <a:ext cx="3291840" cy="3291840"/>
          </a:xfrm>
          <a:prstGeom prst="ellipse">
            <a:avLst/>
          </a:prstGeom>
          <a:gradFill rotWithShape="1">
            <a:gsLst>
              <a:gs pos="0">
                <a:srgbClr val="FFB072"/>
              </a:gs>
              <a:gs pos="100000">
                <a:srgbClr val="9CAE73"/>
              </a:gs>
            </a:gsLst>
            <a:lin ang="19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955279" y="4023360"/>
            <a:ext cx="1828800" cy="1828800"/>
          </a:xfrm>
          <a:prstGeom prst="ellipse">
            <a:avLst/>
          </a:prstGeom>
          <a:gradFill rotWithShape="1">
            <a:gsLst>
              <a:gs pos="0">
                <a:srgbClr val="7F73FF"/>
              </a:gs>
              <a:gs pos="100000">
                <a:srgbClr val="FF6B7A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45720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52357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dirty="0" err="1">
                <a:solidFill>
                  <a:srgbClr val="0A0A0A"/>
                </a:solidFill>
                <a:latin typeface="Arial"/>
              </a:rPr>
              <a:t>RebuildRelay</a:t>
            </a:r>
            <a:endParaRPr sz="1500" b="1" dirty="0">
              <a:solidFill>
                <a:srgbClr val="0A0A0A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78638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>
                <a:solidFill>
                  <a:srgbClr val="0A0A0A"/>
                </a:solidFill>
                <a:latin typeface="Arial"/>
              </a:rPr>
              <a:t>Emergency calls,</a:t>
            </a:r>
          </a:p>
          <a:p>
            <a:pPr algn="l">
              <a:lnSpc>
                <a:spcPct val="95000"/>
              </a:lnSpc>
            </a:pPr>
            <a:r>
              <a:rPr sz="6000" b="1">
                <a:solidFill>
                  <a:srgbClr val="0A0A0A"/>
                </a:solidFill>
                <a:latin typeface="Arial"/>
              </a:rPr>
              <a:t>rebuilt into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7040880" cy="6455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dirty="0">
                <a:solidFill>
                  <a:srgbClr val="6B6760"/>
                </a:solidFill>
                <a:latin typeface="Arial"/>
              </a:rPr>
              <a:t>Voice-AI emergency intake and dispatch for property restoration teams </a:t>
            </a:r>
            <a:r>
              <a:rPr lang="hu-HU" sz="1700" b="0" dirty="0">
                <a:solidFill>
                  <a:srgbClr val="6B6760"/>
                </a:solidFill>
                <a:latin typeface="Arial"/>
              </a:rPr>
              <a:t>-</a:t>
            </a:r>
            <a:r>
              <a:rPr sz="1700" b="0" dirty="0">
                <a:solidFill>
                  <a:srgbClr val="6B6760"/>
                </a:solidFill>
                <a:latin typeface="Arial"/>
              </a:rPr>
              <a:t> </a:t>
            </a:r>
            <a:r>
              <a:rPr sz="1700" b="1" dirty="0">
                <a:solidFill>
                  <a:srgbClr val="0A0A0A"/>
                </a:solidFill>
                <a:latin typeface="Arial"/>
              </a:rPr>
              <a:t>flood, fire, storm, and mold.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1143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A0A0A"/>
                </a:solidFill>
                <a:latin typeface="Arial"/>
              </a:rPr>
              <a:t>When disaster calls, minutes matter.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3456432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306324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F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72491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A0A0A"/>
                </a:solidFill>
                <a:latin typeface="Arial"/>
              </a:rPr>
              <a:t>Chaos on the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2724911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6760"/>
                </a:solidFill>
                <a:latin typeface="Arial"/>
              </a:rPr>
              <a:t>Flood, fire, storm and mold calls arrive unstructured — no triage, no consistent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651760"/>
            <a:ext cx="3456432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63440" y="306324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F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3383280"/>
            <a:ext cx="272491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A0A0A"/>
                </a:solidFill>
                <a:latin typeface="Arial"/>
              </a:rPr>
              <a:t>Manual, slow 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023360"/>
            <a:ext cx="2724911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6760"/>
                </a:solidFill>
                <a:latin typeface="Arial"/>
              </a:rPr>
              <a:t>Dispatchers transcribe, prioritize, and phone crews by hand. It's slow and error-prone.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651760"/>
            <a:ext cx="3456432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12480" y="306324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F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3383280"/>
            <a:ext cx="272491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A0A0A"/>
                </a:solidFill>
                <a:latin typeface="Arial"/>
              </a:rPr>
              <a:t>Critical details lost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023360"/>
            <a:ext cx="2724911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6760"/>
                </a:solidFill>
                <a:latin typeface="Arial"/>
              </a:rPr>
              <a:t>Live wires, standing water, vulnerable occupants — the things that matter slip through.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11430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A0A0A"/>
                </a:solidFill>
                <a:latin typeface="Arial"/>
              </a:rPr>
              <a:t>One AI pipeline. Three channels. Zero busywork.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3456432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6B7A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272491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A0A0A"/>
                </a:solidFill>
                <a:latin typeface="Arial"/>
              </a:rPr>
              <a:t>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2724911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6760"/>
                </a:solidFill>
                <a:latin typeface="Arial"/>
              </a:rPr>
              <a:t>A caller phones, texts, or talks to the web voice agent on the emergency 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651760"/>
            <a:ext cx="3456432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29718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7F73F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703320"/>
            <a:ext cx="272491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A0A0A"/>
                </a:solidFill>
                <a:latin typeface="Arial"/>
              </a:rPr>
              <a:t>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251960"/>
            <a:ext cx="2724911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6760"/>
                </a:solidFill>
                <a:latin typeface="Arial"/>
              </a:rPr>
              <a:t>The AI asks the right questions and opens a structured, prioritized ticket while they speak.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651760"/>
            <a:ext cx="3456432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29718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9CAE73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703320"/>
            <a:ext cx="272491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A0A0A"/>
                </a:solidFill>
                <a:latin typeface="Arial"/>
              </a:rPr>
              <a:t>Dispatch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251960"/>
            <a:ext cx="2724911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6760"/>
                </a:solidFill>
                <a:latin typeface="Arial"/>
              </a:rPr>
              <a:t>The crew is auto-alerted by SMS and every action streams to a live ops board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11430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A0A0A"/>
                </a:solidFill>
                <a:latin typeface="Arial"/>
              </a:rPr>
              <a:t>Edge-native, real-time by design.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26080"/>
            <a:ext cx="1852574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5430" y="3145536"/>
            <a:ext cx="139537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0A0A0A"/>
                </a:solidFill>
                <a:latin typeface="Arial"/>
              </a:rPr>
              <a:t>Channels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649" y="3594343"/>
            <a:ext cx="139537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6B6760"/>
                </a:solidFill>
                <a:latin typeface="Arial"/>
              </a:rPr>
              <a:t>Phone · SMS · Web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9502" y="2926080"/>
            <a:ext cx="420624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6B6760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8414" y="2926080"/>
            <a:ext cx="1852574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84457" y="3145536"/>
            <a:ext cx="185257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0A0A0A"/>
                </a:solidFill>
                <a:latin typeface="Arial"/>
              </a:rPr>
              <a:t>AI &amp; Telephony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6158" y="3584448"/>
            <a:ext cx="139537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dirty="0" err="1">
                <a:solidFill>
                  <a:srgbClr val="6B6760"/>
                </a:solidFill>
                <a:latin typeface="Arial"/>
              </a:rPr>
              <a:t>ElevenLabs</a:t>
            </a:r>
            <a:r>
              <a:rPr sz="1150" b="0" dirty="0">
                <a:solidFill>
                  <a:srgbClr val="6B6760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6B6760"/>
                </a:solidFill>
                <a:latin typeface="Arial"/>
              </a:rPr>
              <a:t>ConvAI</a:t>
            </a:r>
            <a:r>
              <a:rPr sz="1150" b="0" dirty="0">
                <a:solidFill>
                  <a:srgbClr val="6B6760"/>
                </a:solidFill>
                <a:latin typeface="Arial"/>
              </a:rPr>
              <a:t> · Twilio webhooks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9276" y="2926080"/>
            <a:ext cx="420624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6B6760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8188" y="2926080"/>
            <a:ext cx="1852574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96788" y="3156559"/>
            <a:ext cx="139537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0A0A0A"/>
                </a:solidFill>
                <a:latin typeface="Arial"/>
              </a:rPr>
              <a:t>Worker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4220" y="3602736"/>
            <a:ext cx="139537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dirty="0" err="1">
                <a:solidFill>
                  <a:srgbClr val="6B6760"/>
                </a:solidFill>
                <a:latin typeface="Arial"/>
              </a:rPr>
              <a:t>Next.js</a:t>
            </a:r>
            <a:r>
              <a:rPr sz="1150" b="0" dirty="0">
                <a:solidFill>
                  <a:srgbClr val="6B6760"/>
                </a:solidFill>
                <a:latin typeface="Arial"/>
              </a:rPr>
              <a:t> 16 / </a:t>
            </a:r>
            <a:r>
              <a:rPr sz="1150" b="0" dirty="0" err="1">
                <a:solidFill>
                  <a:srgbClr val="6B6760"/>
                </a:solidFill>
                <a:latin typeface="Arial"/>
              </a:rPr>
              <a:t>OpenNext</a:t>
            </a:r>
            <a:r>
              <a:rPr sz="1150" b="0" dirty="0">
                <a:solidFill>
                  <a:srgbClr val="6B6760"/>
                </a:solidFill>
                <a:latin typeface="Arial"/>
              </a:rPr>
              <a:t> on Cloudflare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9051" y="2926080"/>
            <a:ext cx="420624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6B6760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7963" y="2926080"/>
            <a:ext cx="1852574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06563" y="3191056"/>
            <a:ext cx="139537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0A0A0A"/>
                </a:solidFill>
                <a:latin typeface="Arial"/>
              </a:rPr>
              <a:t>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707" y="3699810"/>
            <a:ext cx="139537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6B6760"/>
                </a:solidFill>
                <a:latin typeface="Arial"/>
              </a:rPr>
              <a:t>D1 tickets + audit</a:t>
            </a:r>
            <a:r>
              <a:rPr lang="hu-HU" sz="1150" b="0" dirty="0">
                <a:solidFill>
                  <a:srgbClr val="6B6760"/>
                </a:solidFill>
                <a:latin typeface="Arial"/>
              </a:rPr>
              <a:t> ·</a:t>
            </a:r>
            <a:r>
              <a:rPr sz="1150" b="0" dirty="0">
                <a:solidFill>
                  <a:srgbClr val="6B6760"/>
                </a:solidFill>
                <a:latin typeface="Arial"/>
              </a:rPr>
              <a:t> R2 audio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8825" y="2926080"/>
            <a:ext cx="420624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6B6760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7737" y="2926080"/>
            <a:ext cx="1852574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98049" y="3209770"/>
            <a:ext cx="139537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0A0A0A"/>
                </a:solidFill>
                <a:latin typeface="Arial"/>
              </a:rPr>
              <a:t>Live 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6337" y="3705199"/>
            <a:ext cx="139537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6B6760"/>
                </a:solidFill>
                <a:latin typeface="Arial"/>
              </a:rPr>
              <a:t>SSE board · agent tool-calls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11430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A0A0A"/>
                </a:solidFill>
                <a:latin typeface="Arial"/>
              </a:rPr>
              <a:t>Built on the edge.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23744"/>
            <a:ext cx="91440" cy="384048"/>
          </a:xfrm>
          <a:prstGeom prst="roundRect">
            <a:avLst>
              <a:gd name="adj" fmla="val 50000"/>
            </a:avLst>
          </a:prstGeom>
          <a:solidFill>
            <a:srgbClr val="F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44144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0A0A"/>
                </a:solidFill>
                <a:latin typeface="Arial"/>
              </a:rPr>
              <a:t>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432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6760"/>
                </a:solidFill>
                <a:latin typeface="Arial"/>
              </a:rPr>
              <a:t>Next.js 16 + React 19 on Cloudflare Workers (OpenNext)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91440" cy="384048"/>
          </a:xfrm>
          <a:prstGeom prst="roundRect">
            <a:avLst>
              <a:gd name="adj" fmla="val 50000"/>
            </a:avLst>
          </a:prstGeom>
          <a:solidFill>
            <a:srgbClr val="7F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3118104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0A0A"/>
                </a:solidFill>
                <a:latin typeface="Arial"/>
              </a:rPr>
              <a:t>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41985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6760"/>
                </a:solidFill>
                <a:latin typeface="Arial"/>
              </a:rPr>
              <a:t>ElevenLabs Conversational AI over signed sessions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77055"/>
            <a:ext cx="91440" cy="384048"/>
          </a:xfrm>
          <a:prstGeom prst="roundRect">
            <a:avLst>
              <a:gd name="adj" fmla="val 50000"/>
            </a:avLst>
          </a:prstGeom>
          <a:solidFill>
            <a:srgbClr val="FFB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3794759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0A0A"/>
                </a:solidFill>
                <a:latin typeface="Arial"/>
              </a:rPr>
              <a:t>Telephony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096511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6760"/>
                </a:solidFill>
                <a:latin typeface="Arial"/>
              </a:rPr>
              <a:t>Twilio Voice + SMS with HMAC-signed webhooks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53712"/>
            <a:ext cx="91440" cy="384048"/>
          </a:xfrm>
          <a:prstGeom prst="roundRect">
            <a:avLst>
              <a:gd name="adj" fmla="val 50000"/>
            </a:avLst>
          </a:prstGeom>
          <a:solidFill>
            <a:srgbClr val="9CA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4471416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0A0A"/>
                </a:solidFill>
                <a:latin typeface="Arial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77316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6760"/>
                </a:solidFill>
                <a:latin typeface="Arial"/>
              </a:rPr>
              <a:t>Cloudflare D1 (tickets + audit log) · R2 (call audio)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523744"/>
            <a:ext cx="91440" cy="384048"/>
          </a:xfrm>
          <a:prstGeom prst="roundRect">
            <a:avLst>
              <a:gd name="adj" fmla="val 50000"/>
            </a:avLst>
          </a:prstGeom>
          <a:solidFill>
            <a:srgbClr val="F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01384" y="2441448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0A0A"/>
                </a:solidFill>
                <a:latin typeface="Arial"/>
              </a:rPr>
              <a:t>Real-time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7432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6760"/>
                </a:solidFill>
                <a:latin typeface="Arial"/>
              </a:rPr>
              <a:t>Server-Sent Events activity stream — no polling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3200400"/>
            <a:ext cx="91440" cy="384048"/>
          </a:xfrm>
          <a:prstGeom prst="roundRect">
            <a:avLst>
              <a:gd name="adj" fmla="val 50000"/>
            </a:avLst>
          </a:prstGeom>
          <a:solidFill>
            <a:srgbClr val="7F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1384" y="3118104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0A0A"/>
                </a:solidFill>
                <a:latin typeface="Arial"/>
              </a:rPr>
              <a:t>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341985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6760"/>
                </a:solidFill>
                <a:latin typeface="Arial"/>
              </a:rPr>
              <a:t>Function tool-calling drives the ticket lifecycle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3877055"/>
            <a:ext cx="91440" cy="384048"/>
          </a:xfrm>
          <a:prstGeom prst="roundRect">
            <a:avLst>
              <a:gd name="adj" fmla="val 50000"/>
            </a:avLst>
          </a:prstGeom>
          <a:solidFill>
            <a:srgbClr val="FFB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1384" y="3794759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A0A0A"/>
                </a:solidFill>
                <a:latin typeface="Arial"/>
              </a:rP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4096511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6760"/>
                </a:solidFill>
                <a:latin typeface="Arial"/>
              </a:rPr>
              <a:t>Web Crypto signature validation · secrets in Wrangler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440493" y="1786210"/>
            <a:ext cx="3131507" cy="343714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1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rr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909" y="2106250"/>
            <a:ext cx="2708050" cy="2708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10954" y="1768298"/>
            <a:ext cx="6263014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A0A0A"/>
                </a:solidFill>
                <a:latin typeface="Arial"/>
              </a:rPr>
              <a:t>See it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29242" y="2728417"/>
            <a:ext cx="626301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B6760"/>
                </a:solidFill>
                <a:latin typeface="Arial"/>
              </a:rPr>
              <a:t>Scan to open the live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43059" y="3322777"/>
            <a:ext cx="5883437" cy="729091"/>
          </a:xfrm>
          <a:prstGeom prst="roundRect">
            <a:avLst>
              <a:gd name="adj" fmla="val 30000"/>
            </a:avLst>
          </a:prstGeom>
          <a:solidFill>
            <a:srgbClr val="F1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58627" y="3518045"/>
            <a:ext cx="5503861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A0A0A"/>
                </a:solidFill>
                <a:latin typeface="Arial"/>
              </a:rPr>
              <a:t>rebuild-relay.cfi-ops.workers.dev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43059" y="4100017"/>
            <a:ext cx="5883437" cy="729091"/>
          </a:xfrm>
          <a:prstGeom prst="roundRect">
            <a:avLst>
              <a:gd name="adj" fmla="val 30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58627" y="4295285"/>
            <a:ext cx="5503861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Call or text:  (610) 753-5508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313</Words>
  <Application>Microsoft Macintosh PowerPoint</Application>
  <PresentationFormat>Szélesvásznú</PresentationFormat>
  <Paragraphs>55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Gyorgy VARGA</cp:lastModifiedBy>
  <cp:revision>2</cp:revision>
  <dcterms:created xsi:type="dcterms:W3CDTF">2013-01-27T09:14:16Z</dcterms:created>
  <dcterms:modified xsi:type="dcterms:W3CDTF">2026-06-06T21:35:01Z</dcterms:modified>
  <cp:category/>
</cp:coreProperties>
</file>